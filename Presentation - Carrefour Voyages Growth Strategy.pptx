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TT Interphases" charset="1" panose="02000503020000020004"/>
      <p:regular r:id="rId11"/>
    </p:embeddedFont>
    <p:embeddedFont>
      <p:font typeface="Cooper BT Light" charset="1" panose="0208050304030B020404"/>
      <p:regular r:id="rId12"/>
    </p:embeddedFont>
    <p:embeddedFont>
      <p:font typeface="TT Interphases Bold" charset="1" panose="02000803060000020004"/>
      <p:regular r:id="rId13"/>
    </p:embeddedFont>
    <p:embeddedFont>
      <p:font typeface="Cooper BT Medium" charset="1" panose="0208060305030B020404"/>
      <p:regular r:id="rId14"/>
    </p:embeddedFont>
    <p:embeddedFont>
      <p:font typeface="Canva Sans Bold" charset="1" panose="020B0803030501040103"/>
      <p:regular r:id="rId15"/>
    </p:embeddedFont>
    <p:embeddedFont>
      <p:font typeface="Canva Sans" charset="1" panose="020B0503030501040103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5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267700" cy="10287000"/>
            <a:chOff x="0" y="0"/>
            <a:chExt cx="2177501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750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77501">
                  <a:moveTo>
                    <a:pt x="0" y="0"/>
                  </a:moveTo>
                  <a:lnTo>
                    <a:pt x="2177501" y="0"/>
                  </a:lnTo>
                  <a:lnTo>
                    <a:pt x="21775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0E0E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77501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666750"/>
            <a:ext cx="6886575" cy="8953500"/>
            <a:chOff x="0" y="0"/>
            <a:chExt cx="812800" cy="10567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1056752"/>
            </a:xfrm>
            <a:custGeom>
              <a:avLst/>
              <a:gdLst/>
              <a:ahLst/>
              <a:cxnLst/>
              <a:rect r="r" b="b" t="t" l="l"/>
              <a:pathLst>
                <a:path h="1056752" w="812800">
                  <a:moveTo>
                    <a:pt x="44968" y="0"/>
                  </a:moveTo>
                  <a:lnTo>
                    <a:pt x="767832" y="0"/>
                  </a:lnTo>
                  <a:cubicBezTo>
                    <a:pt x="779758" y="0"/>
                    <a:pt x="791196" y="4738"/>
                    <a:pt x="799629" y="13171"/>
                  </a:cubicBezTo>
                  <a:cubicBezTo>
                    <a:pt x="808062" y="21604"/>
                    <a:pt x="812800" y="33042"/>
                    <a:pt x="812800" y="44968"/>
                  </a:cubicBezTo>
                  <a:lnTo>
                    <a:pt x="812800" y="1011784"/>
                  </a:lnTo>
                  <a:cubicBezTo>
                    <a:pt x="812800" y="1023711"/>
                    <a:pt x="808062" y="1035148"/>
                    <a:pt x="799629" y="1043582"/>
                  </a:cubicBezTo>
                  <a:cubicBezTo>
                    <a:pt x="791196" y="1052015"/>
                    <a:pt x="779758" y="1056752"/>
                    <a:pt x="767832" y="1056752"/>
                  </a:cubicBezTo>
                  <a:lnTo>
                    <a:pt x="44968" y="1056752"/>
                  </a:lnTo>
                  <a:cubicBezTo>
                    <a:pt x="33042" y="1056752"/>
                    <a:pt x="21604" y="1052015"/>
                    <a:pt x="13171" y="1043582"/>
                  </a:cubicBezTo>
                  <a:cubicBezTo>
                    <a:pt x="4738" y="1035148"/>
                    <a:pt x="0" y="1023711"/>
                    <a:pt x="0" y="1011784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-73822" t="0" r="-73822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296400" y="666750"/>
            <a:ext cx="8324850" cy="6856149"/>
            <a:chOff x="0" y="0"/>
            <a:chExt cx="11099800" cy="9141532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8623372"/>
              <a:ext cx="110998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19"/>
                </a:lnSpc>
              </a:pPr>
              <a:r>
                <a:rPr lang="en-US" sz="2399" spc="-47">
                  <a:solidFill>
                    <a:srgbClr val="E0E0E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Network Performance &amp; Insights for 2024-2025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219075"/>
              <a:ext cx="11099800" cy="79427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1499"/>
                </a:lnSpc>
              </a:pPr>
              <a:r>
                <a:rPr lang="en-US" sz="11499" spc="-229">
                  <a:solidFill>
                    <a:srgbClr val="E0E0E0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Carrefour Voyages Growth Strategy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296400" y="8724859"/>
            <a:ext cx="8324850" cy="895391"/>
            <a:chOff x="0" y="0"/>
            <a:chExt cx="11099800" cy="1193854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659184"/>
              <a:ext cx="11099800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sz="2400">
                  <a:solidFill>
                    <a:srgbClr val="E0E0E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Group 7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-19050"/>
              <a:ext cx="11099800" cy="5812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</a:pPr>
              <a:r>
                <a:rPr lang="en-US" b="true" sz="2800">
                  <a:solidFill>
                    <a:srgbClr val="E0E0E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Samuel-Sacha-Clotilde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560571" y="5660359"/>
            <a:ext cx="7325897" cy="4486028"/>
            <a:chOff x="0" y="0"/>
            <a:chExt cx="1929454" cy="11815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29454" cy="1181505"/>
            </a:xfrm>
            <a:custGeom>
              <a:avLst/>
              <a:gdLst/>
              <a:ahLst/>
              <a:cxnLst/>
              <a:rect r="r" b="b" t="t" l="l"/>
              <a:pathLst>
                <a:path h="1181505" w="1929454">
                  <a:moveTo>
                    <a:pt x="42272" y="0"/>
                  </a:moveTo>
                  <a:lnTo>
                    <a:pt x="1887183" y="0"/>
                  </a:lnTo>
                  <a:cubicBezTo>
                    <a:pt x="1898394" y="0"/>
                    <a:pt x="1909146" y="4454"/>
                    <a:pt x="1917073" y="12381"/>
                  </a:cubicBezTo>
                  <a:cubicBezTo>
                    <a:pt x="1925001" y="20308"/>
                    <a:pt x="1929454" y="31060"/>
                    <a:pt x="1929454" y="42272"/>
                  </a:cubicBezTo>
                  <a:lnTo>
                    <a:pt x="1929454" y="1139234"/>
                  </a:lnTo>
                  <a:cubicBezTo>
                    <a:pt x="1929454" y="1150445"/>
                    <a:pt x="1925001" y="1161197"/>
                    <a:pt x="1917073" y="1169124"/>
                  </a:cubicBezTo>
                  <a:cubicBezTo>
                    <a:pt x="1909146" y="1177052"/>
                    <a:pt x="1898394" y="1181505"/>
                    <a:pt x="1887183" y="1181505"/>
                  </a:cubicBezTo>
                  <a:lnTo>
                    <a:pt x="42272" y="1181505"/>
                  </a:lnTo>
                  <a:cubicBezTo>
                    <a:pt x="18926" y="1181505"/>
                    <a:pt x="0" y="1162580"/>
                    <a:pt x="0" y="1139234"/>
                  </a:cubicBezTo>
                  <a:lnTo>
                    <a:pt x="0" y="42272"/>
                  </a:lnTo>
                  <a:cubicBezTo>
                    <a:pt x="0" y="31060"/>
                    <a:pt x="4454" y="20308"/>
                    <a:pt x="12381" y="12381"/>
                  </a:cubicBezTo>
                  <a:cubicBezTo>
                    <a:pt x="20308" y="4454"/>
                    <a:pt x="31060" y="0"/>
                    <a:pt x="42272" y="0"/>
                  </a:cubicBezTo>
                  <a:close/>
                </a:path>
              </a:pathLst>
            </a:custGeom>
            <a:solidFill>
              <a:srgbClr val="E0E0E0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929454" cy="12196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5400000">
            <a:off x="17100564" y="8768001"/>
            <a:ext cx="1571808" cy="1437490"/>
          </a:xfrm>
          <a:custGeom>
            <a:avLst/>
            <a:gdLst/>
            <a:ahLst/>
            <a:cxnLst/>
            <a:rect r="r" b="b" t="t" l="l"/>
            <a:pathLst>
              <a:path h="1437490" w="1571808">
                <a:moveTo>
                  <a:pt x="1571808" y="0"/>
                </a:moveTo>
                <a:lnTo>
                  <a:pt x="0" y="0"/>
                </a:lnTo>
                <a:lnTo>
                  <a:pt x="0" y="1437490"/>
                </a:lnTo>
                <a:lnTo>
                  <a:pt x="1571808" y="1437490"/>
                </a:lnTo>
                <a:lnTo>
                  <a:pt x="157180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520671" y="182610"/>
            <a:ext cx="8522035" cy="5070611"/>
          </a:xfrm>
          <a:custGeom>
            <a:avLst/>
            <a:gdLst/>
            <a:ahLst/>
            <a:cxnLst/>
            <a:rect r="r" b="b" t="t" l="l"/>
            <a:pathLst>
              <a:path h="5070611" w="8522035">
                <a:moveTo>
                  <a:pt x="0" y="0"/>
                </a:moveTo>
                <a:lnTo>
                  <a:pt x="8522036" y="0"/>
                </a:lnTo>
                <a:lnTo>
                  <a:pt x="8522036" y="5070611"/>
                </a:lnTo>
                <a:lnTo>
                  <a:pt x="0" y="50706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4087282"/>
            <a:ext cx="9857160" cy="6185368"/>
          </a:xfrm>
          <a:custGeom>
            <a:avLst/>
            <a:gdLst/>
            <a:ahLst/>
            <a:cxnLst/>
            <a:rect r="r" b="b" t="t" l="l"/>
            <a:pathLst>
              <a:path h="6185368" w="9857160">
                <a:moveTo>
                  <a:pt x="0" y="0"/>
                </a:moveTo>
                <a:lnTo>
                  <a:pt x="9857160" y="0"/>
                </a:lnTo>
                <a:lnTo>
                  <a:pt x="9857160" y="6185368"/>
                </a:lnTo>
                <a:lnTo>
                  <a:pt x="0" y="61853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72854" y="546397"/>
            <a:ext cx="7281270" cy="2571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475"/>
              </a:lnSpc>
              <a:spcBef>
                <a:spcPct val="0"/>
              </a:spcBef>
            </a:pPr>
            <a:r>
              <a:rPr lang="en-US" sz="16250" spc="-975">
                <a:solidFill>
                  <a:srgbClr val="1F5AC5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x </a:t>
            </a:r>
            <a:r>
              <a:rPr lang="en-US" sz="16250" spc="-975">
                <a:solidFill>
                  <a:srgbClr val="1F5AC5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2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790535" y="6488562"/>
            <a:ext cx="6865970" cy="2439027"/>
            <a:chOff x="0" y="0"/>
            <a:chExt cx="9154626" cy="3252036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0"/>
              <a:ext cx="9154626" cy="6126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617"/>
                </a:lnSpc>
                <a:spcBef>
                  <a:spcPct val="0"/>
                </a:spcBef>
              </a:pPr>
              <a:r>
                <a:rPr lang="en-US" sz="3014">
                  <a:solidFill>
                    <a:srgbClr val="707070"/>
                  </a:solidFill>
                  <a:latin typeface="Cooper BT Medium"/>
                  <a:ea typeface="Cooper BT Medium"/>
                  <a:cs typeface="Cooper BT Medium"/>
                  <a:sym typeface="Cooper BT Medium"/>
                </a:rPr>
                <a:t>Revenue Disparity Among Agencies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180681"/>
              <a:ext cx="9154626" cy="2071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135"/>
                </a:lnSpc>
                <a:spcBef>
                  <a:spcPct val="0"/>
                </a:spcBef>
              </a:pPr>
              <a:r>
                <a:rPr lang="en-US" sz="2411" spc="-48" strike="noStrike" u="none">
                  <a:solidFill>
                    <a:srgbClr val="70707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Top-performing physical branches generate </a:t>
              </a:r>
              <a:r>
                <a:rPr lang="en-US" b="true" sz="2411" spc="-48" strike="noStrike" u="none">
                  <a:solidFill>
                    <a:srgbClr val="70707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double the revenue</a:t>
              </a:r>
              <a:r>
                <a:rPr lang="en-US" sz="2411" spc="-48" strike="noStrike" u="none">
                  <a:solidFill>
                    <a:srgbClr val="707070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 compared to the bottom agencies, highlighting the critical role of location and service quality in maximizing growth potential.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16852" y="95955"/>
            <a:ext cx="8644538" cy="5047545"/>
          </a:xfrm>
          <a:custGeom>
            <a:avLst/>
            <a:gdLst/>
            <a:ahLst/>
            <a:cxnLst/>
            <a:rect r="r" b="b" t="t" l="l"/>
            <a:pathLst>
              <a:path h="5047545" w="8644538">
                <a:moveTo>
                  <a:pt x="0" y="0"/>
                </a:moveTo>
                <a:lnTo>
                  <a:pt x="8644538" y="0"/>
                </a:lnTo>
                <a:lnTo>
                  <a:pt x="8644538" y="5047545"/>
                </a:lnTo>
                <a:lnTo>
                  <a:pt x="0" y="50475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50" r="0" b="-95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26800" y="0"/>
            <a:ext cx="8465484" cy="5047545"/>
          </a:xfrm>
          <a:custGeom>
            <a:avLst/>
            <a:gdLst/>
            <a:ahLst/>
            <a:cxnLst/>
            <a:rect r="r" b="b" t="t" l="l"/>
            <a:pathLst>
              <a:path h="5047545" w="8465484">
                <a:moveTo>
                  <a:pt x="0" y="0"/>
                </a:moveTo>
                <a:lnTo>
                  <a:pt x="8465484" y="0"/>
                </a:lnTo>
                <a:lnTo>
                  <a:pt x="8465484" y="5047545"/>
                </a:lnTo>
                <a:lnTo>
                  <a:pt x="0" y="50475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16852" y="95955"/>
            <a:ext cx="8644538" cy="5143500"/>
          </a:xfrm>
          <a:custGeom>
            <a:avLst/>
            <a:gdLst/>
            <a:ahLst/>
            <a:cxnLst/>
            <a:rect r="r" b="b" t="t" l="l"/>
            <a:pathLst>
              <a:path h="5143500" w="8644538">
                <a:moveTo>
                  <a:pt x="0" y="0"/>
                </a:moveTo>
                <a:lnTo>
                  <a:pt x="8644538" y="0"/>
                </a:lnTo>
                <a:lnTo>
                  <a:pt x="8644538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326800" y="0"/>
            <a:ext cx="8644538" cy="5143500"/>
          </a:xfrm>
          <a:custGeom>
            <a:avLst/>
            <a:gdLst/>
            <a:ahLst/>
            <a:cxnLst/>
            <a:rect r="r" b="b" t="t" l="l"/>
            <a:pathLst>
              <a:path h="5143500" w="8644538">
                <a:moveTo>
                  <a:pt x="0" y="0"/>
                </a:moveTo>
                <a:lnTo>
                  <a:pt x="8644538" y="0"/>
                </a:lnTo>
                <a:lnTo>
                  <a:pt x="8644538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61621" y="5422309"/>
            <a:ext cx="6764759" cy="4864691"/>
          </a:xfrm>
          <a:custGeom>
            <a:avLst/>
            <a:gdLst/>
            <a:ahLst/>
            <a:cxnLst/>
            <a:rect r="r" b="b" t="t" l="l"/>
            <a:pathLst>
              <a:path h="4864691" w="6764759">
                <a:moveTo>
                  <a:pt x="0" y="0"/>
                </a:moveTo>
                <a:lnTo>
                  <a:pt x="6764758" y="0"/>
                </a:lnTo>
                <a:lnTo>
                  <a:pt x="6764758" y="4864691"/>
                </a:lnTo>
                <a:lnTo>
                  <a:pt x="0" y="48646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42" t="0" r="-342" b="-1158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964721" y="5422309"/>
            <a:ext cx="6358558" cy="5629778"/>
          </a:xfrm>
          <a:custGeom>
            <a:avLst/>
            <a:gdLst/>
            <a:ahLst/>
            <a:cxnLst/>
            <a:rect r="r" b="b" t="t" l="l"/>
            <a:pathLst>
              <a:path h="5629778" w="6358558">
                <a:moveTo>
                  <a:pt x="0" y="0"/>
                </a:moveTo>
                <a:lnTo>
                  <a:pt x="6358558" y="0"/>
                </a:lnTo>
                <a:lnTo>
                  <a:pt x="6358558" y="5629778"/>
                </a:lnTo>
                <a:lnTo>
                  <a:pt x="0" y="562977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875" t="0" r="-1303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213475" y="2428522"/>
            <a:ext cx="9495830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1A1A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PERFORMANCE DRIVERS</a:t>
            </a:r>
          </a:p>
          <a:p>
            <a:pPr algn="ctr">
              <a:lnSpc>
                <a:spcPts val="727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0" y="6045664"/>
            <a:ext cx="5889811" cy="2805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9"/>
              </a:lnSpc>
            </a:pPr>
            <a:r>
              <a:rPr lang="en-US" sz="320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Implying that the most revenue is gained through bookings(prompting us to focus on all areas that push our bookings to boom)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3092" y="5640498"/>
            <a:ext cx="5367699" cy="4105035"/>
            <a:chOff x="0" y="0"/>
            <a:chExt cx="1413715" cy="108116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13715" cy="1081162"/>
            </a:xfrm>
            <a:custGeom>
              <a:avLst/>
              <a:gdLst/>
              <a:ahLst/>
              <a:cxnLst/>
              <a:rect r="r" b="b" t="t" l="l"/>
              <a:pathLst>
                <a:path h="1081162" w="1413715">
                  <a:moveTo>
                    <a:pt x="57693" y="0"/>
                  </a:moveTo>
                  <a:lnTo>
                    <a:pt x="1356022" y="0"/>
                  </a:lnTo>
                  <a:cubicBezTo>
                    <a:pt x="1371323" y="0"/>
                    <a:pt x="1385998" y="6078"/>
                    <a:pt x="1396817" y="16898"/>
                  </a:cubicBezTo>
                  <a:cubicBezTo>
                    <a:pt x="1407637" y="27717"/>
                    <a:pt x="1413715" y="42392"/>
                    <a:pt x="1413715" y="57693"/>
                  </a:cubicBezTo>
                  <a:lnTo>
                    <a:pt x="1413715" y="1023469"/>
                  </a:lnTo>
                  <a:cubicBezTo>
                    <a:pt x="1413715" y="1038770"/>
                    <a:pt x="1407637" y="1053444"/>
                    <a:pt x="1396817" y="1064264"/>
                  </a:cubicBezTo>
                  <a:cubicBezTo>
                    <a:pt x="1385998" y="1075083"/>
                    <a:pt x="1371323" y="1081162"/>
                    <a:pt x="1356022" y="1081162"/>
                  </a:cubicBezTo>
                  <a:lnTo>
                    <a:pt x="57693" y="1081162"/>
                  </a:lnTo>
                  <a:cubicBezTo>
                    <a:pt x="42392" y="1081162"/>
                    <a:pt x="27717" y="1075083"/>
                    <a:pt x="16898" y="1064264"/>
                  </a:cubicBezTo>
                  <a:cubicBezTo>
                    <a:pt x="6078" y="1053444"/>
                    <a:pt x="0" y="1038770"/>
                    <a:pt x="0" y="1023469"/>
                  </a:cubicBezTo>
                  <a:lnTo>
                    <a:pt x="0" y="57693"/>
                  </a:lnTo>
                  <a:cubicBezTo>
                    <a:pt x="0" y="42392"/>
                    <a:pt x="6078" y="27717"/>
                    <a:pt x="16898" y="16898"/>
                  </a:cubicBezTo>
                  <a:cubicBezTo>
                    <a:pt x="27717" y="6078"/>
                    <a:pt x="42392" y="0"/>
                    <a:pt x="57693" y="0"/>
                  </a:cubicBezTo>
                  <a:close/>
                </a:path>
              </a:pathLst>
            </a:custGeom>
            <a:solidFill>
              <a:srgbClr val="E0E0E0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413715" cy="11192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31096" y="6332331"/>
            <a:ext cx="5251692" cy="1808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57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Now seeing that our revenue depends on bookings, the top succeed due to loyal customer that keep on booking from them.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31096" y="5640498"/>
            <a:ext cx="5367699" cy="4105035"/>
            <a:chOff x="0" y="0"/>
            <a:chExt cx="1413715" cy="108116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13715" cy="1081162"/>
            </a:xfrm>
            <a:custGeom>
              <a:avLst/>
              <a:gdLst/>
              <a:ahLst/>
              <a:cxnLst/>
              <a:rect r="r" b="b" t="t" l="l"/>
              <a:pathLst>
                <a:path h="1081162" w="1413715">
                  <a:moveTo>
                    <a:pt x="57693" y="0"/>
                  </a:moveTo>
                  <a:lnTo>
                    <a:pt x="1356022" y="0"/>
                  </a:lnTo>
                  <a:cubicBezTo>
                    <a:pt x="1371323" y="0"/>
                    <a:pt x="1385998" y="6078"/>
                    <a:pt x="1396817" y="16898"/>
                  </a:cubicBezTo>
                  <a:cubicBezTo>
                    <a:pt x="1407637" y="27717"/>
                    <a:pt x="1413715" y="42392"/>
                    <a:pt x="1413715" y="57693"/>
                  </a:cubicBezTo>
                  <a:lnTo>
                    <a:pt x="1413715" y="1023469"/>
                  </a:lnTo>
                  <a:cubicBezTo>
                    <a:pt x="1413715" y="1038770"/>
                    <a:pt x="1407637" y="1053444"/>
                    <a:pt x="1396817" y="1064264"/>
                  </a:cubicBezTo>
                  <a:cubicBezTo>
                    <a:pt x="1385998" y="1075083"/>
                    <a:pt x="1371323" y="1081162"/>
                    <a:pt x="1356022" y="1081162"/>
                  </a:cubicBezTo>
                  <a:lnTo>
                    <a:pt x="57693" y="1081162"/>
                  </a:lnTo>
                  <a:cubicBezTo>
                    <a:pt x="42392" y="1081162"/>
                    <a:pt x="27717" y="1075083"/>
                    <a:pt x="16898" y="1064264"/>
                  </a:cubicBezTo>
                  <a:cubicBezTo>
                    <a:pt x="6078" y="1053444"/>
                    <a:pt x="0" y="1038770"/>
                    <a:pt x="0" y="1023469"/>
                  </a:cubicBezTo>
                  <a:lnTo>
                    <a:pt x="0" y="57693"/>
                  </a:lnTo>
                  <a:cubicBezTo>
                    <a:pt x="0" y="42392"/>
                    <a:pt x="6078" y="27717"/>
                    <a:pt x="16898" y="16898"/>
                  </a:cubicBezTo>
                  <a:cubicBezTo>
                    <a:pt x="27717" y="6078"/>
                    <a:pt x="42392" y="0"/>
                    <a:pt x="57693" y="0"/>
                  </a:cubicBezTo>
                  <a:close/>
                </a:path>
              </a:pathLst>
            </a:custGeom>
            <a:solidFill>
              <a:srgbClr val="E0E0E0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413715" cy="11192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31096" y="6262365"/>
            <a:ext cx="5382788" cy="1967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2"/>
              </a:lnSpc>
            </a:pPr>
            <a:r>
              <a:rPr lang="en-US" sz="225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NPS  is also a driver;</a:t>
            </a:r>
          </a:p>
          <a:p>
            <a:pPr algn="ctr">
              <a:lnSpc>
                <a:spcPts val="3152"/>
              </a:lnSpc>
            </a:pPr>
            <a:r>
              <a:rPr lang="en-US" sz="225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Ofcourse if my customers are satisfied they will become loyal and keep on coming hence booming my bookings and revenue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688304" y="5640498"/>
            <a:ext cx="5367699" cy="4105035"/>
            <a:chOff x="0" y="0"/>
            <a:chExt cx="1413715" cy="108116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13715" cy="1081162"/>
            </a:xfrm>
            <a:custGeom>
              <a:avLst/>
              <a:gdLst/>
              <a:ahLst/>
              <a:cxnLst/>
              <a:rect r="r" b="b" t="t" l="l"/>
              <a:pathLst>
                <a:path h="1081162" w="1413715">
                  <a:moveTo>
                    <a:pt x="57693" y="0"/>
                  </a:moveTo>
                  <a:lnTo>
                    <a:pt x="1356022" y="0"/>
                  </a:lnTo>
                  <a:cubicBezTo>
                    <a:pt x="1371323" y="0"/>
                    <a:pt x="1385998" y="6078"/>
                    <a:pt x="1396817" y="16898"/>
                  </a:cubicBezTo>
                  <a:cubicBezTo>
                    <a:pt x="1407637" y="27717"/>
                    <a:pt x="1413715" y="42392"/>
                    <a:pt x="1413715" y="57693"/>
                  </a:cubicBezTo>
                  <a:lnTo>
                    <a:pt x="1413715" y="1023469"/>
                  </a:lnTo>
                  <a:cubicBezTo>
                    <a:pt x="1413715" y="1038770"/>
                    <a:pt x="1407637" y="1053444"/>
                    <a:pt x="1396817" y="1064264"/>
                  </a:cubicBezTo>
                  <a:cubicBezTo>
                    <a:pt x="1385998" y="1075083"/>
                    <a:pt x="1371323" y="1081162"/>
                    <a:pt x="1356022" y="1081162"/>
                  </a:cubicBezTo>
                  <a:lnTo>
                    <a:pt x="57693" y="1081162"/>
                  </a:lnTo>
                  <a:cubicBezTo>
                    <a:pt x="42392" y="1081162"/>
                    <a:pt x="27717" y="1075083"/>
                    <a:pt x="16898" y="1064264"/>
                  </a:cubicBezTo>
                  <a:cubicBezTo>
                    <a:pt x="6078" y="1053444"/>
                    <a:pt x="0" y="1038770"/>
                    <a:pt x="0" y="1023469"/>
                  </a:cubicBezTo>
                  <a:lnTo>
                    <a:pt x="0" y="57693"/>
                  </a:lnTo>
                  <a:cubicBezTo>
                    <a:pt x="0" y="42392"/>
                    <a:pt x="6078" y="27717"/>
                    <a:pt x="16898" y="16898"/>
                  </a:cubicBezTo>
                  <a:cubicBezTo>
                    <a:pt x="27717" y="6078"/>
                    <a:pt x="42392" y="0"/>
                    <a:pt x="57693" y="0"/>
                  </a:cubicBezTo>
                  <a:close/>
                </a:path>
              </a:pathLst>
            </a:custGeom>
            <a:solidFill>
              <a:srgbClr val="E0E0E0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413715" cy="11192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2831179" y="6351381"/>
            <a:ext cx="5083008" cy="2499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4"/>
              </a:lnSpc>
            </a:pPr>
            <a:r>
              <a:rPr lang="en-US" sz="15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Keeping in mind what we just discovered, we want to keep on learning from our data</a:t>
            </a:r>
          </a:p>
          <a:p>
            <a:pPr algn="l" marL="343091" indent="-171545" lvl="1">
              <a:lnSpc>
                <a:spcPts val="2224"/>
              </a:lnSpc>
              <a:buFont typeface="Arial"/>
              <a:buChar char="•"/>
            </a:pPr>
            <a:r>
              <a:rPr lang="en-US" sz="15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.we looked at the competitive Impact</a:t>
            </a:r>
          </a:p>
          <a:p>
            <a:pPr algn="l" marL="343091" indent="-171545" lvl="1">
              <a:lnSpc>
                <a:spcPts val="2224"/>
              </a:lnSpc>
              <a:buFont typeface="Arial"/>
              <a:buChar char="•"/>
            </a:pPr>
            <a:r>
              <a:rPr lang="en-US" sz="15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Then the Digital channel mix </a:t>
            </a:r>
          </a:p>
          <a:p>
            <a:pPr algn="l" marL="343091" indent="-171545" lvl="1">
              <a:lnSpc>
                <a:spcPts val="2224"/>
              </a:lnSpc>
              <a:buFont typeface="Arial"/>
              <a:buChar char="•"/>
            </a:pPr>
            <a:r>
              <a:rPr lang="en-US" sz="15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We kept wondering why agencies are more correlated</a:t>
            </a:r>
          </a:p>
          <a:p>
            <a:pPr algn="l">
              <a:lnSpc>
                <a:spcPts val="2224"/>
              </a:lnSpc>
            </a:pPr>
          </a:p>
          <a:p>
            <a:pPr algn="l">
              <a:lnSpc>
                <a:spcPts val="2224"/>
              </a:lnSpc>
            </a:pPr>
            <a:r>
              <a:rPr lang="en-US" sz="15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From here we can be able to form clusters </a:t>
            </a:r>
          </a:p>
          <a:p>
            <a:pPr algn="l">
              <a:lnSpc>
                <a:spcPts val="2224"/>
              </a:lnSpc>
            </a:pPr>
            <a:r>
              <a:rPr lang="en-US" sz="158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and apply strategic recommendations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4077950" cy="1969824"/>
            <a:chOff x="0" y="0"/>
            <a:chExt cx="18770600" cy="2626432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61925"/>
              <a:ext cx="18770600" cy="15610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499"/>
                </a:lnSpc>
                <a:spcBef>
                  <a:spcPct val="0"/>
                </a:spcBef>
              </a:pPr>
              <a:r>
                <a:rPr lang="en-US" sz="8499" spc="-169">
                  <a:solidFill>
                    <a:srgbClr val="1F5AC5"/>
                  </a:solidFill>
                  <a:latin typeface="Cooper BT Light"/>
                  <a:ea typeface="Cooper BT Light"/>
                  <a:cs typeface="Cooper BT Light"/>
                  <a:sym typeface="Cooper BT Light"/>
                </a:rPr>
                <a:t>Strategic Recommendations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108272"/>
              <a:ext cx="18770600" cy="5181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400" spc="-48">
                  <a:solidFill>
                    <a:srgbClr val="000000"/>
                  </a:solidFill>
                  <a:latin typeface="TT Interphases Bold"/>
                  <a:ea typeface="TT Interphases Bold"/>
                  <a:cs typeface="TT Interphases Bold"/>
                  <a:sym typeface="TT Interphases Bold"/>
                </a:rPr>
                <a:t>Our recommendations operate on two levels.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7660" y="302918"/>
            <a:ext cx="17621250" cy="2953687"/>
            <a:chOff x="0" y="0"/>
            <a:chExt cx="4640988" cy="77792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40988" cy="777926"/>
            </a:xfrm>
            <a:custGeom>
              <a:avLst/>
              <a:gdLst/>
              <a:ahLst/>
              <a:cxnLst/>
              <a:rect r="r" b="b" t="t" l="l"/>
              <a:pathLst>
                <a:path h="777926" w="4640988">
                  <a:moveTo>
                    <a:pt x="17574" y="0"/>
                  </a:moveTo>
                  <a:lnTo>
                    <a:pt x="4623414" y="0"/>
                  </a:lnTo>
                  <a:cubicBezTo>
                    <a:pt x="4628074" y="0"/>
                    <a:pt x="4632544" y="1852"/>
                    <a:pt x="4635840" y="5147"/>
                  </a:cubicBezTo>
                  <a:cubicBezTo>
                    <a:pt x="4639136" y="8443"/>
                    <a:pt x="4640988" y="12913"/>
                    <a:pt x="4640988" y="17574"/>
                  </a:cubicBezTo>
                  <a:lnTo>
                    <a:pt x="4640988" y="760352"/>
                  </a:lnTo>
                  <a:cubicBezTo>
                    <a:pt x="4640988" y="765013"/>
                    <a:pt x="4639136" y="769483"/>
                    <a:pt x="4635840" y="772778"/>
                  </a:cubicBezTo>
                  <a:cubicBezTo>
                    <a:pt x="4632544" y="776074"/>
                    <a:pt x="4628074" y="777926"/>
                    <a:pt x="4623414" y="777926"/>
                  </a:cubicBezTo>
                  <a:lnTo>
                    <a:pt x="17574" y="777926"/>
                  </a:lnTo>
                  <a:cubicBezTo>
                    <a:pt x="12913" y="777926"/>
                    <a:pt x="8443" y="776074"/>
                    <a:pt x="5147" y="772778"/>
                  </a:cubicBezTo>
                  <a:cubicBezTo>
                    <a:pt x="1852" y="769483"/>
                    <a:pt x="0" y="765013"/>
                    <a:pt x="0" y="760352"/>
                  </a:cubicBezTo>
                  <a:lnTo>
                    <a:pt x="0" y="17574"/>
                  </a:lnTo>
                  <a:cubicBezTo>
                    <a:pt x="0" y="12913"/>
                    <a:pt x="1852" y="8443"/>
                    <a:pt x="5147" y="5147"/>
                  </a:cubicBezTo>
                  <a:cubicBezTo>
                    <a:pt x="8443" y="1852"/>
                    <a:pt x="12913" y="0"/>
                    <a:pt x="17574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4640988" cy="8065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66750" y="703436"/>
            <a:ext cx="5801946" cy="214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8400"/>
              </a:lnSpc>
            </a:pPr>
            <a:r>
              <a:rPr lang="en-US" sz="7000" spc="-350">
                <a:solidFill>
                  <a:srgbClr val="E0E0E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Segment-level strategies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591390" y="674861"/>
            <a:ext cx="6696610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40"/>
              </a:lnSpc>
            </a:pPr>
            <a:r>
              <a:rPr lang="en-US" sz="7200" spc="-359">
                <a:solidFill>
                  <a:srgbClr val="E0E0E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Network-wide levers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375711" y="3421370"/>
            <a:ext cx="6609275" cy="6610389"/>
            <a:chOff x="0" y="0"/>
            <a:chExt cx="1740714" cy="17410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40714" cy="1741008"/>
            </a:xfrm>
            <a:custGeom>
              <a:avLst/>
              <a:gdLst/>
              <a:ahLst/>
              <a:cxnLst/>
              <a:rect r="r" b="b" t="t" l="l"/>
              <a:pathLst>
                <a:path h="1741008" w="1740714">
                  <a:moveTo>
                    <a:pt x="46855" y="0"/>
                  </a:moveTo>
                  <a:lnTo>
                    <a:pt x="1693859" y="0"/>
                  </a:lnTo>
                  <a:cubicBezTo>
                    <a:pt x="1706286" y="0"/>
                    <a:pt x="1718204" y="4936"/>
                    <a:pt x="1726991" y="13723"/>
                  </a:cubicBezTo>
                  <a:cubicBezTo>
                    <a:pt x="1735778" y="22510"/>
                    <a:pt x="1740714" y="34428"/>
                    <a:pt x="1740714" y="46855"/>
                  </a:cubicBezTo>
                  <a:lnTo>
                    <a:pt x="1740714" y="1694153"/>
                  </a:lnTo>
                  <a:cubicBezTo>
                    <a:pt x="1740714" y="1706580"/>
                    <a:pt x="1735778" y="1718497"/>
                    <a:pt x="1726991" y="1727284"/>
                  </a:cubicBezTo>
                  <a:cubicBezTo>
                    <a:pt x="1718204" y="1736071"/>
                    <a:pt x="1706286" y="1741008"/>
                    <a:pt x="1693859" y="1741008"/>
                  </a:cubicBezTo>
                  <a:lnTo>
                    <a:pt x="46855" y="1741008"/>
                  </a:lnTo>
                  <a:cubicBezTo>
                    <a:pt x="34428" y="1741008"/>
                    <a:pt x="22510" y="1736071"/>
                    <a:pt x="13723" y="1727284"/>
                  </a:cubicBezTo>
                  <a:cubicBezTo>
                    <a:pt x="4936" y="1718497"/>
                    <a:pt x="0" y="1706580"/>
                    <a:pt x="0" y="1694153"/>
                  </a:cubicBezTo>
                  <a:lnTo>
                    <a:pt x="0" y="46855"/>
                  </a:lnTo>
                  <a:cubicBezTo>
                    <a:pt x="0" y="34428"/>
                    <a:pt x="4936" y="22510"/>
                    <a:pt x="13723" y="13723"/>
                  </a:cubicBezTo>
                  <a:cubicBezTo>
                    <a:pt x="22510" y="4936"/>
                    <a:pt x="34428" y="0"/>
                    <a:pt x="46855" y="0"/>
                  </a:cubicBezTo>
                  <a:close/>
                </a:path>
              </a:pathLst>
            </a:custGeom>
            <a:solidFill>
              <a:srgbClr val="E0E0E0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740714" cy="17791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156518" y="3421370"/>
            <a:ext cx="6632391" cy="6610389"/>
            <a:chOff x="0" y="0"/>
            <a:chExt cx="1746803" cy="174100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46803" cy="1741008"/>
            </a:xfrm>
            <a:custGeom>
              <a:avLst/>
              <a:gdLst/>
              <a:ahLst/>
              <a:cxnLst/>
              <a:rect r="r" b="b" t="t" l="l"/>
              <a:pathLst>
                <a:path h="1741008" w="1746803">
                  <a:moveTo>
                    <a:pt x="46692" y="0"/>
                  </a:moveTo>
                  <a:lnTo>
                    <a:pt x="1700111" y="0"/>
                  </a:lnTo>
                  <a:cubicBezTo>
                    <a:pt x="1712495" y="0"/>
                    <a:pt x="1724371" y="4919"/>
                    <a:pt x="1733127" y="13676"/>
                  </a:cubicBezTo>
                  <a:cubicBezTo>
                    <a:pt x="1741883" y="22432"/>
                    <a:pt x="1746803" y="34308"/>
                    <a:pt x="1746803" y="46692"/>
                  </a:cubicBezTo>
                  <a:lnTo>
                    <a:pt x="1746803" y="1694316"/>
                  </a:lnTo>
                  <a:cubicBezTo>
                    <a:pt x="1746803" y="1720103"/>
                    <a:pt x="1725898" y="1741008"/>
                    <a:pt x="1700111" y="1741008"/>
                  </a:cubicBezTo>
                  <a:lnTo>
                    <a:pt x="46692" y="1741008"/>
                  </a:lnTo>
                  <a:cubicBezTo>
                    <a:pt x="20905" y="1741008"/>
                    <a:pt x="0" y="1720103"/>
                    <a:pt x="0" y="1694316"/>
                  </a:cubicBezTo>
                  <a:lnTo>
                    <a:pt x="0" y="46692"/>
                  </a:lnTo>
                  <a:cubicBezTo>
                    <a:pt x="0" y="20905"/>
                    <a:pt x="20905" y="0"/>
                    <a:pt x="46692" y="0"/>
                  </a:cubicBezTo>
                  <a:close/>
                </a:path>
              </a:pathLst>
            </a:custGeom>
            <a:solidFill>
              <a:srgbClr val="E0E0E0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746803" cy="17791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518160" indent="-259080" lvl="1">
                <a:lnSpc>
                  <a:spcPts val="3120"/>
                </a:lnSpc>
                <a:buFont typeface="Arial"/>
                <a:buChar char="•"/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666750" y="3885928"/>
            <a:ext cx="6119312" cy="598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Segment A — Champions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Objective: Scale what works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Add advisor staffing during peak seasons.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Publicize these “flagship agencies” in national campaigns.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Pilot new premium travel products here first.</a:t>
            </a:r>
          </a:p>
          <a:p>
            <a:pPr algn="l">
              <a:lnSpc>
                <a:spcPts val="4759"/>
              </a:lnSpc>
            </a:pPr>
          </a:p>
        </p:txBody>
      </p:sp>
      <p:grpSp>
        <p:nvGrpSpPr>
          <p:cNvPr name="Group 17" id="17"/>
          <p:cNvGrpSpPr/>
          <p:nvPr/>
        </p:nvGrpSpPr>
        <p:grpSpPr>
          <a:xfrm rot="0">
            <a:off x="410211" y="3421370"/>
            <a:ext cx="6632391" cy="6610389"/>
            <a:chOff x="0" y="0"/>
            <a:chExt cx="1746803" cy="174100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746803" cy="1741008"/>
            </a:xfrm>
            <a:custGeom>
              <a:avLst/>
              <a:gdLst/>
              <a:ahLst/>
              <a:cxnLst/>
              <a:rect r="r" b="b" t="t" l="l"/>
              <a:pathLst>
                <a:path h="1741008" w="1746803">
                  <a:moveTo>
                    <a:pt x="46692" y="0"/>
                  </a:moveTo>
                  <a:lnTo>
                    <a:pt x="1700111" y="0"/>
                  </a:lnTo>
                  <a:cubicBezTo>
                    <a:pt x="1712495" y="0"/>
                    <a:pt x="1724371" y="4919"/>
                    <a:pt x="1733127" y="13676"/>
                  </a:cubicBezTo>
                  <a:cubicBezTo>
                    <a:pt x="1741883" y="22432"/>
                    <a:pt x="1746803" y="34308"/>
                    <a:pt x="1746803" y="46692"/>
                  </a:cubicBezTo>
                  <a:lnTo>
                    <a:pt x="1746803" y="1694316"/>
                  </a:lnTo>
                  <a:cubicBezTo>
                    <a:pt x="1746803" y="1720103"/>
                    <a:pt x="1725898" y="1741008"/>
                    <a:pt x="1700111" y="1741008"/>
                  </a:cubicBezTo>
                  <a:lnTo>
                    <a:pt x="46692" y="1741008"/>
                  </a:lnTo>
                  <a:cubicBezTo>
                    <a:pt x="20905" y="1741008"/>
                    <a:pt x="0" y="1720103"/>
                    <a:pt x="0" y="1694316"/>
                  </a:cubicBezTo>
                  <a:lnTo>
                    <a:pt x="0" y="46692"/>
                  </a:lnTo>
                  <a:cubicBezTo>
                    <a:pt x="0" y="20905"/>
                    <a:pt x="20905" y="0"/>
                    <a:pt x="46692" y="0"/>
                  </a:cubicBezTo>
                  <a:close/>
                </a:path>
              </a:pathLst>
            </a:custGeom>
            <a:solidFill>
              <a:srgbClr val="E0E0E0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746803" cy="17791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666750" y="4424981"/>
            <a:ext cx="5717003" cy="3912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  <a:spcBef>
                <a:spcPct val="0"/>
              </a:spcBef>
            </a:pPr>
            <a:r>
              <a:rPr lang="en-US" b="true" sz="2400" spc="-48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Segment B — Growth Potential</a:t>
            </a:r>
          </a:p>
          <a:p>
            <a:pPr algn="l">
              <a:lnSpc>
                <a:spcPts val="3120"/>
              </a:lnSpc>
              <a:spcBef>
                <a:spcPct val="0"/>
              </a:spcBef>
            </a:pPr>
          </a:p>
          <a:p>
            <a:pPr algn="l">
              <a:lnSpc>
                <a:spcPts val="3120"/>
              </a:lnSpc>
              <a:spcBef>
                <a:spcPct val="0"/>
              </a:spcBef>
            </a:pPr>
            <a:r>
              <a:rPr lang="en-US" sz="2400" spc="-48" u="sng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Objective: Unlock latent demand</a:t>
            </a:r>
          </a:p>
          <a:p>
            <a:pPr algn="l">
              <a:lnSpc>
                <a:spcPts val="3120"/>
              </a:lnSpc>
              <a:spcBef>
                <a:spcPct val="0"/>
              </a:spcBef>
            </a:pPr>
          </a:p>
          <a:p>
            <a:pPr algn="l" marL="518160" indent="-259080" lvl="1">
              <a:lnSpc>
                <a:spcPts val="312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Local hypermarket co-marketing campaigns.</a:t>
            </a:r>
          </a:p>
          <a:p>
            <a:pPr algn="l" marL="518160" indent="-259080" lvl="1">
              <a:lnSpc>
                <a:spcPts val="312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Loyalty reactivation targets (cardholder enrollments + referrals).</a:t>
            </a:r>
          </a:p>
          <a:p>
            <a:pPr algn="l" marL="518160" indent="-259080" lvl="1">
              <a:lnSpc>
                <a:spcPts val="312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Upskilling advisors on premium product selling.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410211" y="3421370"/>
            <a:ext cx="6632391" cy="6610389"/>
            <a:chOff x="0" y="0"/>
            <a:chExt cx="1746803" cy="174100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746803" cy="1741008"/>
            </a:xfrm>
            <a:custGeom>
              <a:avLst/>
              <a:gdLst/>
              <a:ahLst/>
              <a:cxnLst/>
              <a:rect r="r" b="b" t="t" l="l"/>
              <a:pathLst>
                <a:path h="1741008" w="1746803">
                  <a:moveTo>
                    <a:pt x="46692" y="0"/>
                  </a:moveTo>
                  <a:lnTo>
                    <a:pt x="1700111" y="0"/>
                  </a:lnTo>
                  <a:cubicBezTo>
                    <a:pt x="1712495" y="0"/>
                    <a:pt x="1724371" y="4919"/>
                    <a:pt x="1733127" y="13676"/>
                  </a:cubicBezTo>
                  <a:cubicBezTo>
                    <a:pt x="1741883" y="22432"/>
                    <a:pt x="1746803" y="34308"/>
                    <a:pt x="1746803" y="46692"/>
                  </a:cubicBezTo>
                  <a:lnTo>
                    <a:pt x="1746803" y="1694316"/>
                  </a:lnTo>
                  <a:cubicBezTo>
                    <a:pt x="1746803" y="1720103"/>
                    <a:pt x="1725898" y="1741008"/>
                    <a:pt x="1700111" y="1741008"/>
                  </a:cubicBezTo>
                  <a:lnTo>
                    <a:pt x="46692" y="1741008"/>
                  </a:lnTo>
                  <a:cubicBezTo>
                    <a:pt x="20905" y="1741008"/>
                    <a:pt x="0" y="1720103"/>
                    <a:pt x="0" y="1694316"/>
                  </a:cubicBezTo>
                  <a:lnTo>
                    <a:pt x="0" y="46692"/>
                  </a:lnTo>
                  <a:cubicBezTo>
                    <a:pt x="0" y="20905"/>
                    <a:pt x="20905" y="0"/>
                    <a:pt x="46692" y="0"/>
                  </a:cubicBezTo>
                  <a:close/>
                </a:path>
              </a:pathLst>
            </a:custGeom>
            <a:solidFill>
              <a:srgbClr val="E0E0E0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746803" cy="17791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566075" y="4424981"/>
            <a:ext cx="6996208" cy="3912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b="true" sz="2400" spc="-48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Segment C — At Risk</a:t>
            </a:r>
          </a:p>
          <a:p>
            <a:pPr algn="l">
              <a:lnSpc>
                <a:spcPts val="3120"/>
              </a:lnSpc>
            </a:pPr>
          </a:p>
          <a:p>
            <a:pPr algn="l">
              <a:lnSpc>
                <a:spcPts val="3120"/>
              </a:lnSpc>
            </a:pPr>
            <a:r>
              <a:rPr lang="en-US" sz="2400" spc="-48" u="sng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Objective: Rebuild traffic &amp; trust</a:t>
            </a:r>
          </a:p>
          <a:p>
            <a:pPr algn="l">
              <a:lnSpc>
                <a:spcPts val="3120"/>
              </a:lnSpc>
            </a:pPr>
          </a:p>
          <a:p>
            <a:pPr algn="l" marL="518160" indent="-259080" lvl="1">
              <a:lnSpc>
                <a:spcPts val="312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Resolve customer experience issues (NPS-focused coaching).</a:t>
            </a:r>
          </a:p>
          <a:p>
            <a:pPr algn="l" marL="518160" indent="-259080" lvl="1">
              <a:lnSpc>
                <a:spcPts val="312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Aggressive visibility: stands at hypermarket entrance, mini travel fairs.</a:t>
            </a:r>
          </a:p>
          <a:p>
            <a:pPr algn="l" marL="518160" indent="-259080" lvl="1">
              <a:lnSpc>
                <a:spcPts val="3120"/>
              </a:lnSpc>
              <a:buFont typeface="Arial"/>
              <a:buChar char="•"/>
            </a:pPr>
            <a:r>
              <a:rPr lang="en-US" sz="2400" spc="-48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Competitor counter-positioning in high-price battlegrounds.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375711" y="3421370"/>
            <a:ext cx="6632391" cy="6610389"/>
            <a:chOff x="0" y="0"/>
            <a:chExt cx="1746803" cy="174100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746803" cy="1741008"/>
            </a:xfrm>
            <a:custGeom>
              <a:avLst/>
              <a:gdLst/>
              <a:ahLst/>
              <a:cxnLst/>
              <a:rect r="r" b="b" t="t" l="l"/>
              <a:pathLst>
                <a:path h="1741008" w="1746803">
                  <a:moveTo>
                    <a:pt x="46692" y="0"/>
                  </a:moveTo>
                  <a:lnTo>
                    <a:pt x="1700111" y="0"/>
                  </a:lnTo>
                  <a:cubicBezTo>
                    <a:pt x="1712495" y="0"/>
                    <a:pt x="1724371" y="4919"/>
                    <a:pt x="1733127" y="13676"/>
                  </a:cubicBezTo>
                  <a:cubicBezTo>
                    <a:pt x="1741883" y="22432"/>
                    <a:pt x="1746803" y="34308"/>
                    <a:pt x="1746803" y="46692"/>
                  </a:cubicBezTo>
                  <a:lnTo>
                    <a:pt x="1746803" y="1694316"/>
                  </a:lnTo>
                  <a:cubicBezTo>
                    <a:pt x="1746803" y="1720103"/>
                    <a:pt x="1725898" y="1741008"/>
                    <a:pt x="1700111" y="1741008"/>
                  </a:cubicBezTo>
                  <a:lnTo>
                    <a:pt x="46692" y="1741008"/>
                  </a:lnTo>
                  <a:cubicBezTo>
                    <a:pt x="20905" y="1741008"/>
                    <a:pt x="0" y="1720103"/>
                    <a:pt x="0" y="1694316"/>
                  </a:cubicBezTo>
                  <a:lnTo>
                    <a:pt x="0" y="46692"/>
                  </a:lnTo>
                  <a:cubicBezTo>
                    <a:pt x="0" y="20905"/>
                    <a:pt x="20905" y="0"/>
                    <a:pt x="46692" y="0"/>
                  </a:cubicBezTo>
                  <a:close/>
                </a:path>
              </a:pathLst>
            </a:custGeom>
            <a:solidFill>
              <a:srgbClr val="E0E0E0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746803" cy="17791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566075" y="4247378"/>
            <a:ext cx="6418910" cy="3748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0"/>
              </a:lnSpc>
            </a:pPr>
            <a:r>
              <a:rPr lang="en-US" b="true" sz="2562" spc="-51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Segment D — Underperformers</a:t>
            </a:r>
          </a:p>
          <a:p>
            <a:pPr algn="l">
              <a:lnSpc>
                <a:spcPts val="3330"/>
              </a:lnSpc>
            </a:pPr>
          </a:p>
          <a:p>
            <a:pPr algn="l">
              <a:lnSpc>
                <a:spcPts val="3330"/>
              </a:lnSpc>
            </a:pPr>
            <a:r>
              <a:rPr lang="en-US" sz="2562" spc="-51" u="sng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Objective: Fix, focus, or consolidate</a:t>
            </a:r>
          </a:p>
          <a:p>
            <a:pPr algn="l">
              <a:lnSpc>
                <a:spcPts val="3330"/>
              </a:lnSpc>
            </a:pPr>
          </a:p>
          <a:p>
            <a:pPr algn="l" marL="553198" indent="-276599" lvl="1">
              <a:lnSpc>
                <a:spcPts val="3330"/>
              </a:lnSpc>
              <a:buFont typeface="Arial"/>
              <a:buChar char="•"/>
            </a:pPr>
            <a:r>
              <a:rPr lang="en-US" sz="2562" spc="-5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Assess root causes: staff, visibility, catchment limits.</a:t>
            </a:r>
          </a:p>
          <a:p>
            <a:pPr algn="l" marL="553198" indent="-276599" lvl="1">
              <a:lnSpc>
                <a:spcPts val="3330"/>
              </a:lnSpc>
              <a:buFont typeface="Arial"/>
              <a:buChar char="•"/>
            </a:pPr>
            <a:r>
              <a:rPr lang="en-US" sz="2562" spc="-5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Strong intervention: staffing replacement, retraining, store redesign.</a:t>
            </a:r>
          </a:p>
          <a:p>
            <a:pPr algn="l" marL="553198" indent="-276599" lvl="1">
              <a:lnSpc>
                <a:spcPts val="3330"/>
              </a:lnSpc>
              <a:buFont typeface="Arial"/>
              <a:buChar char="•"/>
            </a:pPr>
            <a:r>
              <a:rPr lang="en-US" sz="2562" spc="-5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If unfixable → footprint rationalization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146703" y="4158599"/>
            <a:ext cx="6436557" cy="4488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3828" indent="-306914" lvl="1">
              <a:lnSpc>
                <a:spcPts val="3980"/>
              </a:lnSpc>
              <a:buFont typeface="Arial"/>
              <a:buChar char="•"/>
            </a:pPr>
            <a:r>
              <a:rPr lang="en-US" sz="284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Employee</a:t>
            </a:r>
            <a:r>
              <a:rPr lang="en-US" sz="284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Travel Activation Program.</a:t>
            </a:r>
          </a:p>
          <a:p>
            <a:pPr algn="l">
              <a:lnSpc>
                <a:spcPts val="3980"/>
              </a:lnSpc>
            </a:pPr>
          </a:p>
          <a:p>
            <a:pPr algn="l" marL="613828" indent="-306914" lvl="1">
              <a:lnSpc>
                <a:spcPts val="3980"/>
              </a:lnSpc>
              <a:buFont typeface="Arial"/>
              <a:buChar char="•"/>
            </a:pPr>
            <a:r>
              <a:rPr lang="en-US" sz="284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digital lead generation</a:t>
            </a:r>
          </a:p>
          <a:p>
            <a:pPr algn="l">
              <a:lnSpc>
                <a:spcPts val="3980"/>
              </a:lnSpc>
            </a:pPr>
          </a:p>
          <a:p>
            <a:pPr algn="l" marL="613828" indent="-306914" lvl="1">
              <a:lnSpc>
                <a:spcPts val="3980"/>
              </a:lnSpc>
              <a:buFont typeface="Arial"/>
              <a:buChar char="•"/>
            </a:pPr>
            <a:r>
              <a:rPr lang="en-US" sz="284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Deploy seasonal in-store campaigns aligned with Carrefour promotions.</a:t>
            </a:r>
          </a:p>
          <a:p>
            <a:pPr algn="l">
              <a:lnSpc>
                <a:spcPts val="3980"/>
              </a:lnSpc>
            </a:pPr>
          </a:p>
        </p:txBody>
      </p:sp>
      <p:grpSp>
        <p:nvGrpSpPr>
          <p:cNvPr name="Group 30" id="30"/>
          <p:cNvGrpSpPr/>
          <p:nvPr/>
        </p:nvGrpSpPr>
        <p:grpSpPr>
          <a:xfrm rot="0">
            <a:off x="7465987" y="3421370"/>
            <a:ext cx="3257331" cy="6610389"/>
            <a:chOff x="0" y="0"/>
            <a:chExt cx="857898" cy="174100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57898" cy="1741008"/>
            </a:xfrm>
            <a:custGeom>
              <a:avLst/>
              <a:gdLst/>
              <a:ahLst/>
              <a:cxnLst/>
              <a:rect r="r" b="b" t="t" l="l"/>
              <a:pathLst>
                <a:path h="1741008" w="857898">
                  <a:moveTo>
                    <a:pt x="95071" y="0"/>
                  </a:moveTo>
                  <a:lnTo>
                    <a:pt x="762827" y="0"/>
                  </a:lnTo>
                  <a:cubicBezTo>
                    <a:pt x="788041" y="0"/>
                    <a:pt x="812223" y="10016"/>
                    <a:pt x="830052" y="27846"/>
                  </a:cubicBezTo>
                  <a:cubicBezTo>
                    <a:pt x="847881" y="45675"/>
                    <a:pt x="857898" y="69856"/>
                    <a:pt x="857898" y="95071"/>
                  </a:cubicBezTo>
                  <a:lnTo>
                    <a:pt x="857898" y="1645937"/>
                  </a:lnTo>
                  <a:cubicBezTo>
                    <a:pt x="857898" y="1671151"/>
                    <a:pt x="847881" y="1695333"/>
                    <a:pt x="830052" y="1713162"/>
                  </a:cubicBezTo>
                  <a:cubicBezTo>
                    <a:pt x="812223" y="1730991"/>
                    <a:pt x="788041" y="1741008"/>
                    <a:pt x="762827" y="1741008"/>
                  </a:cubicBezTo>
                  <a:lnTo>
                    <a:pt x="95071" y="1741008"/>
                  </a:lnTo>
                  <a:cubicBezTo>
                    <a:pt x="69856" y="1741008"/>
                    <a:pt x="45675" y="1730991"/>
                    <a:pt x="27846" y="1713162"/>
                  </a:cubicBezTo>
                  <a:cubicBezTo>
                    <a:pt x="10016" y="1695333"/>
                    <a:pt x="0" y="1671151"/>
                    <a:pt x="0" y="1645937"/>
                  </a:cubicBezTo>
                  <a:lnTo>
                    <a:pt x="0" y="95071"/>
                  </a:lnTo>
                  <a:cubicBezTo>
                    <a:pt x="0" y="69856"/>
                    <a:pt x="10016" y="45675"/>
                    <a:pt x="27846" y="27846"/>
                  </a:cubicBezTo>
                  <a:cubicBezTo>
                    <a:pt x="45675" y="10016"/>
                    <a:pt x="69856" y="0"/>
                    <a:pt x="95071" y="0"/>
                  </a:cubicBezTo>
                  <a:close/>
                </a:path>
              </a:pathLst>
            </a:custGeom>
            <a:solidFill>
              <a:srgbClr val="E0E0E0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857898" cy="17791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518160" indent="-259080" lvl="1">
                <a:lnSpc>
                  <a:spcPts val="3120"/>
                </a:lnSpc>
                <a:buFont typeface="Arial"/>
                <a:buChar char="•"/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8022497" y="4819967"/>
            <a:ext cx="2243212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</a:t>
            </a: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oduct</a:t>
            </a:r>
          </a:p>
          <a:p>
            <a:pPr algn="l">
              <a:lnSpc>
                <a:spcPts val="4759"/>
              </a:lnSpc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price</a:t>
            </a:r>
          </a:p>
          <a:p>
            <a:pPr algn="l">
              <a:lnSpc>
                <a:spcPts val="4759"/>
              </a:lnSpc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Place</a:t>
            </a:r>
          </a:p>
          <a:p>
            <a:pPr algn="l">
              <a:lnSpc>
                <a:spcPts val="4759"/>
              </a:lnSpc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Promotion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1734" y="4683762"/>
            <a:ext cx="17584533" cy="89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84"/>
              </a:lnSpc>
              <a:spcBef>
                <a:spcPct val="0"/>
              </a:spcBef>
            </a:pPr>
            <a:r>
              <a:rPr lang="en-US" b="true" sz="2757" spc="-55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Not all agencies should be treated equally</a:t>
            </a:r>
          </a:p>
          <a:p>
            <a:pPr algn="ctr">
              <a:lnSpc>
                <a:spcPts val="3584"/>
              </a:lnSpc>
              <a:spcBef>
                <a:spcPct val="0"/>
              </a:spcBef>
            </a:pPr>
            <a:r>
              <a:rPr lang="en-US" b="true" sz="2757" spc="-55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Different clusters need different levers: quality, marketing, staffing, loyalty, digital, or footprint reconsideration.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Carrefour Voyages Growth Strategy</dc:description>
  <dc:identifier>DAG5JLjwU2U</dc:identifier>
  <dcterms:modified xsi:type="dcterms:W3CDTF">2011-08-01T06:04:30Z</dcterms:modified>
  <cp:revision>1</cp:revision>
  <dc:title>Presentation - Carrefour Voyages Growth Strategy</dc:title>
</cp:coreProperties>
</file>